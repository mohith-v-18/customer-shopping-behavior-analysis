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A9F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9F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6FB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Skirt</c:v>
                  </c:pt>
                  <c:pt idx="1">
                    <c:v>Hat</c:v>
                  </c:pt>
                  <c:pt idx="2">
                    <c:v>Boots</c:v>
                  </c:pt>
                  <c:pt idx="3">
                    <c:v>Sandals</c:v>
                  </c:pt>
                  <c:pt idx="4">
                    <c:v>Gloves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3.78</c:v>
                </c:pt>
                <c:pt idx="1">
                  <c:v>3.8</c:v>
                </c:pt>
                <c:pt idx="2">
                  <c:v>3.82</c:v>
                </c:pt>
                <c:pt idx="3">
                  <c:v>3.84</c:v>
                </c:pt>
                <c:pt idx="4">
                  <c:v>3.86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9"/>
          <c:min val="3.7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FBF"/>
              </a:solidFill>
              <a:effectLst/>
            </c:spPr>
          </c:dPt>
          <c:dPt>
            <c:idx val="1"/>
            <c:bubble3D val="0"/>
            <c:spPr>
              <a:solidFill>
                <a:srgbClr val="4A9FE0"/>
              </a:solidFill>
              <a:effectLst/>
            </c:spPr>
          </c:dPt>
          <c:dPt>
            <c:idx val="2"/>
            <c:bubble3D val="0"/>
            <c:spPr>
              <a:solidFill>
                <a:srgbClr val="00B4D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 (79.9%)</c:v>
                </c:pt>
                <c:pt idx="1">
                  <c:v>Returning (18.0%)</c:v>
                </c:pt>
                <c:pt idx="2">
                  <c:v>New (2.1%)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B2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0F7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9F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6F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
(0–18)</c:v>
                  </c:pt>
                  <c:pt idx="1">
                    <c:v>Adults
(18–30)</c:v>
                  </c:pt>
                  <c:pt idx="2">
                    <c:v>Middle-Aged
(30–55)</c:v>
                  </c:pt>
                  <c:pt idx="3">
                    <c:v>Seniors
(55–100)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2000</c:v>
                </c:pt>
                <c:pt idx="1">
                  <c:v>62000</c:v>
                </c:pt>
                <c:pt idx="2">
                  <c:v>118000</c:v>
                </c:pt>
                <c:pt idx="3">
                  <c:v>53000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633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Analysis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089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310896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31089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310896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31089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4439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736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44439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51760" y="4736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44439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4736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44439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4736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Tech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worked with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64208"/>
          <a:ext cx="3931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3,900 transactions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columns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nulls in Review 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Clothing, Accessories, Footwear, Outerwear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664208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64608" y="166420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76672" y="17007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76672" y="193852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46320" y="2322576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64608" y="232257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376672" y="23591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76672" y="259689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SQL queries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46320" y="2980944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64608" y="298094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76672" y="30175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76672" y="32552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DB pipeline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846320" y="3639312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64608" y="363931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76672" y="36758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76672" y="39136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interactive dashboard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1600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08760"/>
            <a:ext cx="502920" cy="5029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75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read_csv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0" y="2103120"/>
            <a:ext cx="182880" cy="0"/>
          </a:xfrm>
          <a:prstGeom prst="line">
            <a:avLst/>
          </a:prstGeom>
          <a:noFill/>
          <a:ln w="25400">
            <a:solidFill>
              <a:srgbClr val="1F6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1417320"/>
            <a:ext cx="1600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508760"/>
            <a:ext cx="502920" cy="5029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84832" y="2075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84832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nulls, rename cols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47872" y="2103120"/>
            <a:ext cx="182880" cy="0"/>
          </a:xfrm>
          <a:prstGeom prst="line">
            <a:avLst/>
          </a:prstGeom>
          <a:noFill/>
          <a:ln w="25400">
            <a:solidFill>
              <a:srgbClr val="1F6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1417320"/>
            <a:ext cx="1600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61104" y="1508760"/>
            <a:ext cx="502920" cy="5029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03904" y="2075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03904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age_groups, frequency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66944" y="2103120"/>
            <a:ext cx="182880" cy="0"/>
          </a:xfrm>
          <a:prstGeom prst="line">
            <a:avLst/>
          </a:prstGeom>
          <a:noFill/>
          <a:ln w="25400">
            <a:solidFill>
              <a:srgbClr val="1F6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31536" y="1417320"/>
            <a:ext cx="1600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0176" y="1508760"/>
            <a:ext cx="502920" cy="5029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0176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22976" y="2075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DB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22976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→ PostgreSQL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86016" y="2103120"/>
            <a:ext cx="182880" cy="0"/>
          </a:xfrm>
          <a:prstGeom prst="line">
            <a:avLst/>
          </a:prstGeom>
          <a:noFill/>
          <a:ln w="25400">
            <a:solidFill>
              <a:srgbClr val="1F6F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0608" y="1417320"/>
            <a:ext cx="1600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99248" y="1508760"/>
            <a:ext cx="502920" cy="502920"/>
          </a:xfrm>
          <a:prstGeom prst="ellipse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9248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42048" y="2075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42048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 queries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371600" y="3108960"/>
            <a:ext cx="6400800" cy="13716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371600" y="3108960"/>
            <a:ext cx="64008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32004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Final Output — Power BI Dashboard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71600" y="35478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customers  ·  $59.76 avg purchase  ·  3.75 avg rating  ·  27% subscription rate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3822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Gender · Category · Subscription Status · Shipping Type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Engineering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— pandas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64008" cy="100584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18488"/>
            <a:ext cx="274320" cy="27432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144475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Values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719072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Review Rating per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(37 nulls)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37160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371600"/>
            <a:ext cx="64008" cy="100584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618488"/>
            <a:ext cx="274320" cy="27432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0" y="144475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Columns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0" y="1719072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+ purchse_amount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preserved from source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560320"/>
            <a:ext cx="64008" cy="100584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807208"/>
            <a:ext cx="274320" cy="27432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" y="263347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bins [0,18,30,55,100]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Young / Adults / Middle-Aged / Seniors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56032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560320"/>
            <a:ext cx="64008" cy="100584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807208"/>
            <a:ext cx="274320" cy="27432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0" y="263347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3520" y="2907792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labels mapped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numeric days (7–365)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74904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749040"/>
            <a:ext cx="64008" cy="100584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995928"/>
            <a:ext cx="274320" cy="27432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995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" y="382219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Redundant Col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096512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discount_applied 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promo_code_used → dropped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374904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3749040"/>
            <a:ext cx="64008" cy="1005840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3995928"/>
            <a:ext cx="274320" cy="27432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995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03520" y="382219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 PostgreSQL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03520" y="4096512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engine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customer table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Customer Insights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Q2 · Q5 · Q9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572768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1298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Insights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627632"/>
            <a:ext cx="1783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627632"/>
            <a:ext cx="17830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73736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919472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 customers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766560" y="1627632"/>
            <a:ext cx="1783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66560" y="1627632"/>
            <a:ext cx="17830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173736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839712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46320" y="2798064"/>
            <a:ext cx="1783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46320" y="2798064"/>
            <a:ext cx="1783080" cy="54864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290779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919472" y="33467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users above avg spend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766560" y="2798064"/>
            <a:ext cx="1783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66560" y="2798064"/>
            <a:ext cx="17830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290779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839712" y="33467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NOT subscribed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65760" y="4133088"/>
            <a:ext cx="8412480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1330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Male customers generate 2.1× more revenue. 72% of repeat buyers are unsubscribed — biggest conversion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Ratings &amp; Discount Behavior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Q6 · Q8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Rating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572768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1298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Discount-Dependent Products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627632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56048" y="162763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80760" y="1746504"/>
            <a:ext cx="182880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80760" y="1746504"/>
            <a:ext cx="914400" cy="182880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0" y="162763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46320" y="2121408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6048" y="2121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2240280"/>
            <a:ext cx="182880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80760" y="2240280"/>
            <a:ext cx="908182" cy="182880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0" y="2121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49.66%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46320" y="2615184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56048" y="261518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80760" y="2734056"/>
            <a:ext cx="182880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80760" y="2734056"/>
            <a:ext cx="897392" cy="182880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55280" y="261518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49.07%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846320" y="3108960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56048" y="310896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Sweater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80760" y="3227832"/>
            <a:ext cx="182880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80760" y="3227832"/>
            <a:ext cx="880933" cy="182880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55280" y="310896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48.17%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46320" y="3602736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56048" y="36027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080760" y="3721608"/>
            <a:ext cx="182880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080760" y="3721608"/>
            <a:ext cx="866303" cy="182880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55280" y="36027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47.37%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65760" y="4133088"/>
            <a:ext cx="8412480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41330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Gloves lead with a 3.86 rating. Hat has a 50% discount rate — margin impact should be reviewed.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&amp; Age Group Revenue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Q10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572768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1298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1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846320" y="1572768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4370832"/>
            <a:ext cx="8412480" cy="4114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79.9% Loyal customers. Middle-Aged (30–55) dominates revenue due to the widest age bracket.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64008" cy="475488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2984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generate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3240" y="12984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2.1× more revenue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298448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98448"/>
            <a:ext cx="64008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9844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2984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 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06640" y="12984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 of all customers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002536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002536"/>
            <a:ext cx="6400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00253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0025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63240" y="20025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002536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002536"/>
            <a:ext cx="64008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00253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20025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unsubscribed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06640" y="20025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— top opportunity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706624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706624"/>
            <a:ext cx="6400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70662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270662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discount rate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63240" y="270662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— highest risk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706624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706624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70662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270662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product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06640" y="270662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 at 3.86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410712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410712"/>
            <a:ext cx="64008" cy="475488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41071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" y="341071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segment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063240" y="341071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Middle-Aged (30–55)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410712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410712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41071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12080" y="341071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vs. Standard spend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06640" y="341071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$60.48 vs. $58.46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64008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3000" y="12984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repeat buyers with subscription campaigns — 72% are unsubscribed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298448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98448"/>
            <a:ext cx="64008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98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532120" y="12984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Gloves, Sandals &amp; Boots in marketing — top-rated products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258568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58568"/>
            <a:ext cx="6400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" y="22585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strategy for Hat &amp; Sneakers — ~50% discount rate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258568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258568"/>
            <a:ext cx="6400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532120" y="22585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loyalty rewards to convert Returning → Loyal segment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18688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218688"/>
            <a:ext cx="64008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18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" y="32186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targeted content for Adults (18–30) to grow the segment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218688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218688"/>
            <a:ext cx="64008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218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32120" y="32186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Express shipping offers to increase average order value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206240"/>
            <a:ext cx="146304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178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71600" y="4206240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72768" y="4178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377440" y="4206240"/>
            <a:ext cx="146304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78608" y="4178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8288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F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798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51760" y="2286000"/>
            <a:ext cx="18288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F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2798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18288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F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2798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0" y="2286000"/>
            <a:ext cx="18288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F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0" y="2798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PostgreSQL  ·  Power BI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36592"/>
            <a:ext cx="82296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github.com/&lt;your-username&gt;/customer-shopping-behavior-analysis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PptxGenJS</cp:lastModifiedBy>
  <cp:revision>1</cp:revision>
  <dcterms:created xsi:type="dcterms:W3CDTF">2026-04-17T20:13:51Z</dcterms:created>
  <dcterms:modified xsi:type="dcterms:W3CDTF">2026-04-17T20:13:51Z</dcterms:modified>
</cp:coreProperties>
</file>